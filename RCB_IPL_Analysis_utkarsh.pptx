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28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85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0A0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0A0A"/>
                </a:solidFill>
                <a:latin typeface="Arial"/>
              </a:rPr>
              <a:t>Top 5 RCB Run Scorers (All Seasons)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Runs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BE1-4021-8907-9F5CA60D6AD9}"/>
              </c:ext>
            </c:extLst>
          </c:dPt>
          <c:dPt>
            <c:idx val="1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E1-4021-8907-9F5CA60D6AD9}"/>
              </c:ext>
            </c:extLst>
          </c:dPt>
          <c:dPt>
            <c:idx val="2"/>
            <c:invertIfNegative val="0"/>
            <c:bubble3D val="0"/>
            <c:spPr>
              <a:solidFill>
                <a:srgbClr val="CC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E1-4021-8907-9F5CA60D6AD9}"/>
              </c:ext>
            </c:extLst>
          </c:dPt>
          <c:dPt>
            <c:idx val="3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E1-4021-8907-9F5CA60D6AD9}"/>
              </c:ext>
            </c:extLst>
          </c:dPt>
          <c:dPt>
            <c:idx val="4"/>
            <c:invertIfNegative val="0"/>
            <c:bubble3D val="0"/>
            <c:spPr>
              <a:solidFill>
                <a:srgbClr val="CC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BE1-4021-8907-9F5CA60D6A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 Kohli</c:v>
                </c:pt>
                <c:pt idx="1">
                  <c:v>AB de Villiers</c:v>
                </c:pt>
                <c:pt idx="2">
                  <c:v>Chris Gayle</c:v>
                </c:pt>
                <c:pt idx="3">
                  <c:v>KL Rahul</c:v>
                </c:pt>
                <c:pt idx="4">
                  <c:v>Yuvraj Singh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2800</c:v>
                </c:pt>
                <c:pt idx="2">
                  <c:v>2450</c:v>
                </c:pt>
                <c:pt idx="3">
                  <c:v>1300</c:v>
                </c:pt>
                <c:pt idx="4">
                  <c:v>950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E1-4021-8907-9F5CA60D6A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0A0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0A0A"/>
                </a:solidFill>
                <a:latin typeface="Arial"/>
              </a:rPr>
              <a:t>Wickets by Bowling Style (All IPL Seasons)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Wickets Taken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EC-4F71-BE1E-C317EA77CDE4}"/>
              </c:ext>
            </c:extLst>
          </c:dPt>
          <c:dPt>
            <c:idx val="1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EC-4F71-BE1E-C317EA77CDE4}"/>
              </c:ext>
            </c:extLst>
          </c:dPt>
          <c:dPt>
            <c:idx val="2"/>
            <c:invertIfNegative val="0"/>
            <c:bubble3D val="0"/>
            <c:spPr>
              <a:solidFill>
                <a:srgbClr val="D4AF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EC-4F71-BE1E-C317EA77CDE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7EC-4F71-BE1E-C317EA77CDE4}"/>
              </c:ext>
            </c:extLst>
          </c:dPt>
          <c:dPt>
            <c:idx val="4"/>
            <c:invertIfNegative val="0"/>
            <c:bubble3D val="0"/>
            <c:spPr>
              <a:solidFill>
                <a:srgbClr val="8B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7EC-4F71-BE1E-C317EA77CDE4}"/>
              </c:ext>
            </c:extLst>
          </c:dPt>
          <c:dPt>
            <c:idx val="5"/>
            <c:invertIfNegative val="0"/>
            <c:bubble3D val="0"/>
            <c:spPr>
              <a:solidFill>
                <a:srgbClr val="D4AF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7EC-4F71-BE1E-C317EA77CD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Right-arm Fast</c:v>
                </c:pt>
                <c:pt idx="1">
                  <c:v>Left-arm Spin</c:v>
                </c:pt>
                <c:pt idx="2">
                  <c:v>Right-arm Spin</c:v>
                </c:pt>
                <c:pt idx="3">
                  <c:v>Left-arm Fast</c:v>
                </c:pt>
                <c:pt idx="4">
                  <c:v>Right-arm Med</c:v>
                </c:pt>
                <c:pt idx="5">
                  <c:v>Slow Left-arm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2350</c:v>
                </c:pt>
                <c:pt idx="1">
                  <c:v>1890</c:v>
                </c:pt>
                <c:pt idx="2">
                  <c:v>1640</c:v>
                </c:pt>
                <c:pt idx="3">
                  <c:v>1210</c:v>
                </c:pt>
                <c:pt idx="4">
                  <c:v>980</c:v>
                </c:pt>
                <c:pt idx="5">
                  <c:v>760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7EC-4F71-BE1E-C317EA77CD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0A0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A0A0A"/>
                </a:solidFill>
                <a:latin typeface="Arial"/>
              </a:rPr>
              <a:t>RCB Home Win Percentage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C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426-4434-A780-12A1F22AA189}"/>
              </c:ext>
            </c:extLst>
          </c:dPt>
          <c:dPt>
            <c:idx val="1"/>
            <c:bubble3D val="0"/>
            <c:spPr>
              <a:solidFill>
                <a:srgbClr val="2A2A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26-4434-A780-12A1F22AA18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426-4434-A780-12A1F22AA18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426-4434-A780-12A1F22AA18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Home Wins (50%)</c:v>
                </c:pt>
                <c:pt idx="1">
                  <c:v>Home Losses (50%)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26-4434-A780-12A1F22AA1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A2A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0A0A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A0A0A"/>
                </a:solidFill>
                <a:latin typeface="Arial"/>
              </a:rPr>
              <a:t>RCB Away Win Percentage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Win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F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33-4784-B7A8-05C1E2F84F40}"/>
              </c:ext>
            </c:extLst>
          </c:dPt>
          <c:dPt>
            <c:idx val="1"/>
            <c:bubble3D val="0"/>
            <c:spPr>
              <a:solidFill>
                <a:srgbClr val="2A2A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33-4784-B7A8-05C1E2F84F4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33-4784-B7A8-05C1E2F84F4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33-4784-B7A8-05C1E2F84F4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Away Wins (45%)</c:v>
                </c:pt>
                <c:pt idx="1">
                  <c:v>Away Losses (55%)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33-4784-B7A8-05C1E2F84F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A2A2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0A0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0A0A"/>
                </a:solidFill>
                <a:latin typeface="Arial"/>
              </a:rPr>
              <a:t>RCB Runs &amp; Wickets by Match Phase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Runs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Powerplay (1-6)</c:v>
                </c:pt>
                <c:pt idx="1">
                  <c:v>Middle Overs (7-15)</c:v>
                </c:pt>
                <c:pt idx="2">
                  <c:v>Death Overs (16-20)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6056</c:v>
                </c:pt>
                <c:pt idx="1">
                  <c:v>9463</c:v>
                </c:pt>
                <c:pt idx="2">
                  <c:v>6460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FD-4152-B6E2-D2C5975D97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Wickets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Powerplay (1-6)</c:v>
                </c:pt>
                <c:pt idx="1">
                  <c:v>Middle Overs (7-15)</c:v>
                </c:pt>
                <c:pt idx="2">
                  <c:v>Death Overs (16-20)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201</c:v>
                </c:pt>
                <c:pt idx="1">
                  <c:v>293</c:v>
                </c:pt>
                <c:pt idx="2">
                  <c:v>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FD-4152-B6E2-D2C5975D97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</a:t>
            </a:r>
            <a:r>
              <a:rPr lang="en-IN" baseline="0"/>
              <a:t> All Rounders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Sheet12!$C$1</c:f>
              <c:strCache>
                <c:ptCount val="1"/>
                <c:pt idx="0">
                  <c:v>Total_runs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multiLvlStrRef>
              <c:f>Sheet12!$A$2:$B$11</c:f>
              <c:multiLvlStrCache>
                <c:ptCount val="10"/>
                <c:lvl>
                  <c:pt idx="0">
                    <c:v>SK Raina</c:v>
                  </c:pt>
                  <c:pt idx="1">
                    <c:v>DR Smith</c:v>
                  </c:pt>
                  <c:pt idx="2">
                    <c:v>KA Pollard</c:v>
                  </c:pt>
                  <c:pt idx="3">
                    <c:v>SR Watson</c:v>
                  </c:pt>
                  <c:pt idx="4">
                    <c:v>Yuvraj Singh</c:v>
                  </c:pt>
                  <c:pt idx="5">
                    <c:v>JP Duminy</c:v>
                  </c:pt>
                  <c:pt idx="6">
                    <c:v>RA Jadeja</c:v>
                  </c:pt>
                  <c:pt idx="7">
                    <c:v>MC Henriques</c:v>
                  </c:pt>
                  <c:pt idx="8">
                    <c:v>STR Binny</c:v>
                  </c:pt>
                  <c:pt idx="9">
                    <c:v>AD Russell</c:v>
                  </c:pt>
                </c:lvl>
                <c:lvl>
                  <c:pt idx="0">
                    <c:v>21</c:v>
                  </c:pt>
                  <c:pt idx="1">
                    <c:v>147</c:v>
                  </c:pt>
                  <c:pt idx="2">
                    <c:v>221</c:v>
                  </c:pt>
                  <c:pt idx="3">
                    <c:v>32</c:v>
                  </c:pt>
                  <c:pt idx="4">
                    <c:v>27</c:v>
                  </c:pt>
                  <c:pt idx="5">
                    <c:v>154</c:v>
                  </c:pt>
                  <c:pt idx="6">
                    <c:v>35</c:v>
                  </c:pt>
                  <c:pt idx="7">
                    <c:v>163</c:v>
                  </c:pt>
                  <c:pt idx="8">
                    <c:v>255</c:v>
                  </c:pt>
                  <c:pt idx="9">
                    <c:v>334</c:v>
                  </c:pt>
                </c:lvl>
              </c:multiLvlStrCache>
            </c:multiLvlStrRef>
          </c:cat>
          <c:val>
            <c:numRef>
              <c:f>Sheet12!$C$2:$C$11</c:f>
              <c:numCache>
                <c:formatCode>General</c:formatCode>
                <c:ptCount val="10"/>
                <c:pt idx="0">
                  <c:v>1844</c:v>
                </c:pt>
                <c:pt idx="1">
                  <c:v>1707</c:v>
                </c:pt>
                <c:pt idx="2">
                  <c:v>1320</c:v>
                </c:pt>
                <c:pt idx="3">
                  <c:v>1315</c:v>
                </c:pt>
                <c:pt idx="4">
                  <c:v>1098</c:v>
                </c:pt>
                <c:pt idx="5">
                  <c:v>1015</c:v>
                </c:pt>
                <c:pt idx="6">
                  <c:v>670</c:v>
                </c:pt>
                <c:pt idx="7">
                  <c:v>643</c:v>
                </c:pt>
                <c:pt idx="8">
                  <c:v>553</c:v>
                </c:pt>
                <c:pt idx="9">
                  <c:v>527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FA-4414-901D-20E56F259A2E}"/>
            </c:ext>
          </c:extLst>
        </c:ser>
        <c:ser>
          <c:idx val="1"/>
          <c:order val="1"/>
          <c:tx>
            <c:strRef>
              <c:f>Sheet12!$D$1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Sheet12!$A$2:$B$11</c:f>
              <c:multiLvlStrCache>
                <c:ptCount val="10"/>
                <c:lvl>
                  <c:pt idx="0">
                    <c:v>SK Raina</c:v>
                  </c:pt>
                  <c:pt idx="1">
                    <c:v>DR Smith</c:v>
                  </c:pt>
                  <c:pt idx="2">
                    <c:v>KA Pollard</c:v>
                  </c:pt>
                  <c:pt idx="3">
                    <c:v>SR Watson</c:v>
                  </c:pt>
                  <c:pt idx="4">
                    <c:v>Yuvraj Singh</c:v>
                  </c:pt>
                  <c:pt idx="5">
                    <c:v>JP Duminy</c:v>
                  </c:pt>
                  <c:pt idx="6">
                    <c:v>RA Jadeja</c:v>
                  </c:pt>
                  <c:pt idx="7">
                    <c:v>MC Henriques</c:v>
                  </c:pt>
                  <c:pt idx="8">
                    <c:v>STR Binny</c:v>
                  </c:pt>
                  <c:pt idx="9">
                    <c:v>AD Russell</c:v>
                  </c:pt>
                </c:lvl>
                <c:lvl>
                  <c:pt idx="0">
                    <c:v>21</c:v>
                  </c:pt>
                  <c:pt idx="1">
                    <c:v>147</c:v>
                  </c:pt>
                  <c:pt idx="2">
                    <c:v>221</c:v>
                  </c:pt>
                  <c:pt idx="3">
                    <c:v>32</c:v>
                  </c:pt>
                  <c:pt idx="4">
                    <c:v>27</c:v>
                  </c:pt>
                  <c:pt idx="5">
                    <c:v>154</c:v>
                  </c:pt>
                  <c:pt idx="6">
                    <c:v>35</c:v>
                  </c:pt>
                  <c:pt idx="7">
                    <c:v>163</c:v>
                  </c:pt>
                  <c:pt idx="8">
                    <c:v>255</c:v>
                  </c:pt>
                  <c:pt idx="9">
                    <c:v>334</c:v>
                  </c:pt>
                </c:lvl>
              </c:multiLvlStrCache>
            </c:multiLvlStrRef>
          </c:cat>
          <c:val>
            <c:numRef>
              <c:f>Sheet12!$D$2:$D$11</c:f>
              <c:numCache>
                <c:formatCode>General</c:formatCode>
                <c:ptCount val="10"/>
                <c:pt idx="0">
                  <c:v>16</c:v>
                </c:pt>
                <c:pt idx="1">
                  <c:v>25</c:v>
                </c:pt>
                <c:pt idx="2">
                  <c:v>44</c:v>
                </c:pt>
                <c:pt idx="3">
                  <c:v>91</c:v>
                </c:pt>
                <c:pt idx="4">
                  <c:v>24</c:v>
                </c:pt>
                <c:pt idx="5">
                  <c:v>24</c:v>
                </c:pt>
                <c:pt idx="6">
                  <c:v>101</c:v>
                </c:pt>
                <c:pt idx="7">
                  <c:v>62</c:v>
                </c:pt>
                <c:pt idx="8">
                  <c:v>32</c:v>
                </c:pt>
                <c:pt idx="9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FA-4414-901D-20E56F259A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59915848"/>
        <c:axId val="559914768"/>
      </c:barChart>
      <c:catAx>
        <c:axId val="559915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914768"/>
        <c:crosses val="autoZero"/>
        <c:auto val="1"/>
        <c:lblAlgn val="ctr"/>
        <c:lblOffset val="100"/>
        <c:noMultiLvlLbl val="0"/>
      </c:catAx>
      <c:valAx>
        <c:axId val="559914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9915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0A0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0A0A"/>
                </a:solidFill>
                <a:latin typeface="Arial"/>
              </a:rPr>
              <a:t>Bat vs Field First Win % by 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 First Win %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Chinnaswamy</c:v>
                </c:pt>
                <c:pt idx="1">
                  <c:v>Wankhede</c:v>
                </c:pt>
                <c:pt idx="2">
                  <c:v>Eden Gardens</c:v>
                </c:pt>
                <c:pt idx="3">
                  <c:v>Feroz Shah Kotla</c:v>
                </c:pt>
                <c:pt idx="4">
                  <c:v>Chepauk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38</c:v>
                </c:pt>
                <c:pt idx="2">
                  <c:v>42</c:v>
                </c:pt>
                <c:pt idx="3">
                  <c:v>51</c:v>
                </c:pt>
                <c:pt idx="4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F5-40C0-8735-14517318A8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Field First Win %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A2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Chinnaswamy</c:v>
                </c:pt>
                <c:pt idx="1">
                  <c:v>Wankhede</c:v>
                </c:pt>
                <c:pt idx="2">
                  <c:v>Eden Gardens</c:v>
                </c:pt>
                <c:pt idx="3">
                  <c:v>Feroz Shah Kotla</c:v>
                </c:pt>
                <c:pt idx="4">
                  <c:v>Chepauk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55</c:v>
                </c:pt>
                <c:pt idx="1">
                  <c:v>62</c:v>
                </c:pt>
                <c:pt idx="2">
                  <c:v>58</c:v>
                </c:pt>
                <c:pt idx="3">
                  <c:v>49</c:v>
                </c:pt>
                <c:pt idx="4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F5-40C0-8735-14517318A8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90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891540"/>
            <a:ext cx="2468880" cy="3474720"/>
          </a:xfrm>
          <a:prstGeom prst="rect">
            <a:avLst/>
          </a:prstGeom>
          <a:solidFill>
            <a:srgbClr val="8B0000">
              <a:alpha val="40000"/>
            </a:srgbClr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0" y="13716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217920" y="4394499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BOLD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IPL DATA ANALYSIS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MySQL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0292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Challengers Bangalore — Performance, Strategy &amp; Insights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Utkarsh Chandra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437020B-7A1A-7663-82A9-F962C2530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05660"/>
            <a:ext cx="24688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Objectives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96519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32104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868680"/>
            <a:ext cx="73152" cy="3931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914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13258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involves an in-depth SQL-based analysis of Indian Premier League (IPL) cricket data focused on Royal Challengers Bangalore (RCB).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spans multiple seasons and captures ball-by-ball data, player statistics, match outcomes, and venue information.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objective and subjective questions are answered using advanced SQL techniques including CTEs, Window Functions, JOINs, and Subqueries.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206240" cy="3931920"/>
          </a:xfrm>
          <a:prstGeom prst="rect">
            <a:avLst/>
          </a:prstGeom>
          <a:solidFill>
            <a:srgbClr val="0A0A0A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1417320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batting, bowling &amp; team performance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865376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8379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KPIs: Strike Rate, Avg Runs, Win 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313432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RCB win-loss record across venues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761488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7340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all-rounders &amp; consistent performers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209544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1821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toss impact on match outcomes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657600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players for the mega auction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4105656"/>
            <a:ext cx="182880" cy="1828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40782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strategy improvements for RCB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C98E8C-DD9A-74AB-698D-E0392FE46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65192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96519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32104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RCB</a:t>
            </a:r>
            <a:endParaRPr lang="en-US" sz="900" dirty="0"/>
          </a:p>
        </p:txBody>
      </p:sp>
      <p:pic>
        <p:nvPicPr>
          <p:cNvPr id="35" name="Content Placeholder 4">
            <a:extLst>
              <a:ext uri="{FF2B5EF4-FFF2-40B4-BE49-F238E27FC236}">
                <a16:creationId xmlns:a16="http://schemas.microsoft.com/office/drawing/2014/main" id="{FD725B0E-7BBA-8F42-0DD2-5B604E425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232"/>
            <a:ext cx="9144000" cy="443941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0C655A9-D11A-79C8-1922-BF329E3348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 &amp; SQL Approach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96519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841248"/>
            <a:ext cx="86868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914400"/>
            <a:ext cx="59436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9235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2070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SELECT + JOINs to combine Ball_by_Ball, Matches, Player, Season, Venue, Wicket_Taken, and Extra_Runs tables for comprehensive analysis.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627632"/>
            <a:ext cx="8686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847088"/>
            <a:ext cx="59436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8470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185623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Aggregation with CTEs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13969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Table Expressions (CTEs) used to break down complex queries — computing runs, wickets, innings counts, and seasonal data step-by-step.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2560320"/>
            <a:ext cx="8686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779776"/>
            <a:ext cx="59436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7797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278892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 Functions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07238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LAG() used for year-over-year performance comparison. ROW_NUMBER() / DENSE_RANK() used to rank players by wickets, runs, or strike rate.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3493008"/>
            <a:ext cx="868680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712464"/>
            <a:ext cx="59436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7124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372160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 Logic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00507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statements used to classify performance as Improved / Declined / Same and to calculate wins, losses, and no-results per venue.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22E7C92-846E-0518-C6E3-43722B071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Analysis — Batting Performance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228600" y="841248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5760720" y="841248"/>
            <a:ext cx="315468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8961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Total Runs Scored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21,547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60720" y="1728216"/>
            <a:ext cx="315468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Top Scorer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97880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Virat Kohli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60720" y="2615184"/>
            <a:ext cx="315468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2670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Top Scorer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97880" y="29626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Chris Gayle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60720" y="3502152"/>
            <a:ext cx="315468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557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 (Overall)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97880" y="38496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12.15%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28600" y="4434840"/>
            <a:ext cx="8686800" cy="411480"/>
          </a:xfrm>
          <a:prstGeom prst="rect">
            <a:avLst/>
          </a:prstGeom>
          <a:solidFill>
            <a:srgbClr val="CC0000">
              <a:alpha val="9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4531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Strike rate, batting average &amp; total runs are primary selection parameters for batsmen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F9ECA1D-EE4C-457C-7DD9-6B772F67DF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Analysis — Bowling Performance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228600" y="841248"/>
          <a:ext cx="53035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5760720" y="841248"/>
            <a:ext cx="315468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8961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Total Wickets Taken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770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760720" y="1728216"/>
            <a:ext cx="315468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Top Wicket-Taker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97880" y="2075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YS Chahal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760720" y="2615184"/>
            <a:ext cx="3154680" cy="777240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2670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Overseas Top Wicket-Taker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897880" y="296265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DW Steyn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760720" y="3502152"/>
            <a:ext cx="3154680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35570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Death Over Bowlers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97880" y="38496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 Christian, M Tiwary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228600" y="4434840"/>
            <a:ext cx="8686800" cy="411480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5760" y="445312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Right-arm fast bowlers take the most wickets across all seasons in the IPL dataset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47231BF-B231-034A-6699-738667364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Performance — RCB Season-Wise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228600" y="86868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/>
          <p:cNvGraphicFramePr/>
          <p:nvPr/>
        </p:nvGraphicFramePr>
        <p:xfrm>
          <a:off x="4206240" y="86868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Shape 9"/>
          <p:cNvSpPr/>
          <p:nvPr/>
        </p:nvSpPr>
        <p:spPr>
          <a:xfrm>
            <a:off x="228600" y="4160520"/>
            <a:ext cx="8686800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28600" y="4160520"/>
            <a:ext cx="8686800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28600" y="4160520"/>
            <a:ext cx="8686800" cy="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28600" y="4169664"/>
            <a:ext cx="8686800" cy="658368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32 matches, 16 wins (50%)   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Away: 31 matches, 14 wins (45%)</a:t>
            </a: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200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RCB: 9 wins in 2013 season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C8AA902-3A64-3553-046A-5E55AC2DD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Insights — RCB Phase-Wise KPIs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228600" y="841248"/>
          <a:ext cx="57607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617220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Breakdown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1280160"/>
            <a:ext cx="2743200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09360" y="1344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Powerplay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09360" y="16459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6,056   Wickets: 201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72200" y="2468880"/>
            <a:ext cx="2743200" cy="1051560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2532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 Overs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09360" y="2834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9,463   Wickets: 293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72200" y="3657600"/>
            <a:ext cx="2743200" cy="1051560"/>
          </a:xfrm>
          <a:prstGeom prst="rect">
            <a:avLst/>
          </a:prstGeom>
          <a:solidFill>
            <a:srgbClr val="8B0000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7216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Death Overs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309360" y="4023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6,460   Wickets: 276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72200" y="3977640"/>
            <a:ext cx="2743200" cy="749808"/>
          </a:xfrm>
          <a:prstGeom prst="rect">
            <a:avLst/>
          </a:prstGeom>
          <a:solidFill>
            <a:srgbClr val="D4AF37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40050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RUNS: 21,547   WICKETS: 770</a:t>
            </a:r>
            <a:endParaRPr lang="en-US" sz="11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A82D06C-2017-B0EC-CD28-9C1A0A464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Players: All-Rounders &amp; Top Performers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804672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All-Rounders (Runs &amp; Wickets across all Seasons)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" y="1207008"/>
            <a:ext cx="2834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207008"/>
            <a:ext cx="283464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 Watson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All-Rounder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19568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1,315   |   Wickets: 91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207008"/>
            <a:ext cx="2834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207008"/>
            <a:ext cx="283464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 Jadeja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 Machine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19568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670   |   Wickets: 101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207008"/>
            <a:ext cx="2834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207008"/>
            <a:ext cx="283464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 Pollard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6642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Hitter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9568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1,320   |   Wickets: 44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035808"/>
            <a:ext cx="2834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28600" y="3035808"/>
            <a:ext cx="28346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45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Russell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493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Winner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527   |   Wickets: 66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0" y="3035808"/>
            <a:ext cx="2834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035808"/>
            <a:ext cx="28346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145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 Raina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3493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Machine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1,844   |   Wickets: 16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3035808"/>
            <a:ext cx="283464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035808"/>
            <a:ext cx="283464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1455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 Smith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09360" y="3493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Batting Anchor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09360" y="378561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1,707   |   Wickets: 25</a:t>
            </a:r>
            <a:endParaRPr lang="en-US" sz="1100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0D10EA9-8602-1F59-4DBC-269391360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0BD13E-A6DE-9F49-36B8-DD720D6EBF57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271700-905D-A189-FEAB-D9FF6001E4F6}"/>
              </a:ext>
            </a:extLst>
          </p:cNvPr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C4E474-3B7C-24E9-F648-2F286A1AE0AE}"/>
              </a:ext>
            </a:extLst>
          </p:cNvPr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9FFFA9-9792-EA5E-8672-D0BF36E4279F}"/>
              </a:ext>
            </a:extLst>
          </p:cNvPr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Player All Rounder</a:t>
            </a:r>
            <a:endParaRPr lang="en-US" sz="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4323AA-7CE6-F9E2-96F0-155A2D051EFB}"/>
              </a:ext>
            </a:extLst>
          </p:cNvPr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</a:rPr>
              <a:t>All Rounder</a:t>
            </a:r>
            <a:endParaRPr lang="en-US" sz="2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BB0529A-DB62-4707-ED75-9EFD94401641}"/>
              </a:ext>
            </a:extLst>
          </p:cNvPr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12D77A4-BB1A-BF98-D378-1F3BF73584DD}"/>
              </a:ext>
            </a:extLst>
          </p:cNvPr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70C1FBA-310A-CE6D-12DD-235A529A3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86B7AC4D-8E8F-859C-F097-4B958A226F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5791623"/>
              </p:ext>
            </p:extLst>
          </p:nvPr>
        </p:nvGraphicFramePr>
        <p:xfrm>
          <a:off x="594360" y="1234440"/>
          <a:ext cx="7406640" cy="3195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2456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Insights — Toss &amp; Venue Impact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graphicFrame>
        <p:nvGraphicFramePr>
          <p:cNvPr id="11" name="Chart 0"/>
          <p:cNvGraphicFramePr/>
          <p:nvPr/>
        </p:nvGraphicFramePr>
        <p:xfrm>
          <a:off x="228600" y="841248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6035040" y="841248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1234440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12618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Toss gives moderate advantage not decisive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1755648"/>
            <a:ext cx="2880360" cy="457200"/>
          </a:xfrm>
          <a:prstGeom prst="rect">
            <a:avLst/>
          </a:prstGeom>
          <a:solidFill>
            <a:srgbClr val="F8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178308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Fielding first preferred at most venues (dew factor)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2276856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23042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Feroz Shah Kotla favors batting first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035040" y="2798064"/>
            <a:ext cx="2880360" cy="457200"/>
          </a:xfrm>
          <a:prstGeom prst="rect">
            <a:avLst/>
          </a:prstGeom>
          <a:solidFill>
            <a:srgbClr val="F8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28254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Chinnaswamy: field first wins 55% of the time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3319272"/>
            <a:ext cx="2880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334670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No universal optimal toss strategy across venues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035040" y="3840480"/>
            <a:ext cx="2880360" cy="457200"/>
          </a:xfrm>
          <a:prstGeom prst="rect">
            <a:avLst/>
          </a:prstGeom>
          <a:solidFill>
            <a:srgbClr val="F8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0" y="38679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Team performance still drives outcomes more than toss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7174FBF-6871-2153-3F88-59D465079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1887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Insights — Mega Auction Recommendations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965192"/>
            <a:ext cx="7315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Data Analysis | Utkarsh Chandra | MySQL Project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321040" y="4965192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18872"/>
            <a:ext cx="1097280" cy="310896"/>
          </a:xfrm>
          <a:prstGeom prst="rect">
            <a:avLst/>
          </a:prstGeom>
          <a:solidFill>
            <a:srgbClr val="0A0A0A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18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17320" y="91440"/>
            <a:ext cx="7498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Insights — Mega Auction Recommendations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841248"/>
            <a:ext cx="4297680" cy="1234440"/>
          </a:xfrm>
          <a:prstGeom prst="rect">
            <a:avLst/>
          </a:prstGeom>
          <a:solidFill>
            <a:srgbClr val="2A2A2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978408"/>
            <a:ext cx="41148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" y="950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Strengthen the Bowling Attack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134416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death-over specialists with low economy. Target wicket-taking spinners suited to Indian pitches.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" y="2167128"/>
            <a:ext cx="4297680" cy="1234440"/>
          </a:xfrm>
          <a:prstGeom prst="rect">
            <a:avLst/>
          </a:prstGeom>
          <a:solidFill>
            <a:srgbClr val="2A2A2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304288"/>
            <a:ext cx="41148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304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86968" y="22768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 in All-Rounders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" y="267004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young Indian all-rounders who contribute with both bat &amp; ball. Add power hitters in lower order.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3493008"/>
            <a:ext cx="4297680" cy="1234440"/>
          </a:xfrm>
          <a:prstGeom prst="rect">
            <a:avLst/>
          </a:prstGeom>
          <a:solidFill>
            <a:srgbClr val="2A2A2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630168"/>
            <a:ext cx="41148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630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6968" y="3602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Strong Middle Order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192" y="399592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collapse vulnerability. Look at domestic SMAT performers with consistency and good strike rates.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841248"/>
            <a:ext cx="4297680" cy="1874520"/>
          </a:xfrm>
          <a:prstGeom prst="rect">
            <a:avLst/>
          </a:prstGeom>
          <a:solidFill>
            <a:srgbClr val="2A2A2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92040" y="978408"/>
            <a:ext cx="41148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978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13248" y="950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 Dependency on Big Names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134416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overspending on overseas stars with inconsistent IPL records. Prioritize proven Indian condition performers.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2852928"/>
            <a:ext cx="4297680" cy="1874520"/>
          </a:xfrm>
          <a:prstGeom prst="rect">
            <a:avLst/>
          </a:prstGeom>
          <a:solidFill>
            <a:srgbClr val="2A2A2A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2990088"/>
            <a:ext cx="41148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13248" y="2962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&amp; Cost-Effective Buys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19472" y="335584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undervalued players with high potential. Maintain budget flexibility for auction bidding wars.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3AAED27-6FE3-4E52-FCD7-8AFE9F473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 Key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77724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4251960" cy="1143000"/>
          </a:xfrm>
          <a:prstGeom prst="rect">
            <a:avLst/>
          </a:prstGeom>
          <a:solidFill>
            <a:srgbClr val="2A2A2A"/>
          </a:solidFill>
          <a:ln w="10160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73152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Bowling Weakness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990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RCB's recurring issue is death-over bowling — this is the primary area requiring immediate attention and investment.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51960" cy="1143000"/>
          </a:xfrm>
          <a:prstGeom prst="rect">
            <a:avLst/>
          </a:prstGeom>
          <a:solidFill>
            <a:srgbClr val="2A2A2A"/>
          </a:solidFill>
          <a:ln w="10160">
            <a:solidFill>
              <a:srgbClr val="CC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60120"/>
            <a:ext cx="73152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051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Over-Reliance on Key Players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39903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dependence on Kohli &amp; de Villiers historically hurt the team. Squad depth and balance are critical.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51960" cy="1143000"/>
          </a:xfrm>
          <a:prstGeom prst="rect">
            <a:avLst/>
          </a:prstGeom>
          <a:solidFill>
            <a:srgbClr val="2A2A2A"/>
          </a:solidFill>
          <a:ln w="10160">
            <a:solidFill>
              <a:srgbClr val="CC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40280"/>
            <a:ext cx="73152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vs Away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26791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 performs marginally better at home (50%) vs away (45%), indicating the home advantage is not strongly capitalized.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240280"/>
            <a:ext cx="4251960" cy="1143000"/>
          </a:xfrm>
          <a:prstGeom prst="rect">
            <a:avLst/>
          </a:prstGeom>
          <a:solidFill>
            <a:srgbClr val="2A2A2A"/>
          </a:solidFill>
          <a:ln w="10160">
            <a:solidFill>
              <a:srgbClr val="CC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240280"/>
            <a:ext cx="73152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Toss is not Destiny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267919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provides a contextual edge but does not guarantee victory. Execution and adaptability matter more.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4251960" cy="1143000"/>
          </a:xfrm>
          <a:prstGeom prst="rect">
            <a:avLst/>
          </a:prstGeom>
          <a:solidFill>
            <a:srgbClr val="2A2A2A"/>
          </a:solidFill>
          <a:ln w="10160">
            <a:solidFill>
              <a:srgbClr val="CC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520440"/>
            <a:ext cx="73152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11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All-Rounders are Assets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" y="3959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like Watson, Jadeja, and Russell provide dual-value. More all-rounders improve strategic flexibility.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4251960" cy="1143000"/>
          </a:xfrm>
          <a:prstGeom prst="rect">
            <a:avLst/>
          </a:prstGeom>
          <a:solidFill>
            <a:srgbClr val="2A2A2A"/>
          </a:solidFill>
          <a:ln w="10160">
            <a:solidFill>
              <a:srgbClr val="CC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520440"/>
            <a:ext cx="73152" cy="11430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611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F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Data-Driven Auctions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39593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SQL analytics with contextual cricket knowledge leads to smarter, balanced squad selection.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B6B2441-CBA8-0379-FEA2-FDF06C9DF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550" y="6858"/>
            <a:ext cx="630820" cy="6995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915</Words>
  <Application>Microsoft Office PowerPoint</Application>
  <PresentationFormat>On-screen Show (16:9)</PresentationFormat>
  <Paragraphs>162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Analysis - RCB MySQL Project</dc:title>
  <dc:subject>PptxGenJS Presentation</dc:subject>
  <dc:creator>Utkarsh Chandra</dc:creator>
  <cp:lastModifiedBy>Utkarsh Chandra</cp:lastModifiedBy>
  <cp:revision>3</cp:revision>
  <dcterms:created xsi:type="dcterms:W3CDTF">2026-04-07T11:35:31Z</dcterms:created>
  <dcterms:modified xsi:type="dcterms:W3CDTF">2026-04-07T19:00:44Z</dcterms:modified>
</cp:coreProperties>
</file>